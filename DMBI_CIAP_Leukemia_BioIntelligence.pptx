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3108960" cy="3108960"/>
          </a:xfrm>
          <a:prstGeom prst="ellipse">
            <a:avLst/>
          </a:prstGeom>
          <a:solidFill>
            <a:srgbClr val="5FC9BF">
              <a:alpha val="18000"/>
            </a:srgbClr>
          </a:solidFill>
          <a:ln/>
        </p:spPr>
      </p:sp>
      <p:pic>
        <p:nvPicPr>
          <p:cNvPr id="4" name="Image 0" descr="/home/claude/ppt/icon_dna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10195560" y="5029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BUSINESS INTELLIGENCE  •  CIAP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Leukemia Bio-Intelligence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Expression Clustering &amp; Feature Selection Dashboard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703320"/>
            <a:ext cx="70408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9319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Bhanushali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41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60520" y="39319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44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TYIT-2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6052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DMBI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SAKEC  •  Shah and Anchor Kutchhi Engineering College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walkthrough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111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21924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1343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gene expression cohort: AML, ALL, Healthy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7111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2192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92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1343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→ Feature Selection → Clustering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71703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/icon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386516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5387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Feature Selection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9593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1000 genes down to the top 20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337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371703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33" y="386516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387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9593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grouping (K=3) with WEKA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3629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_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3" y="551108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1846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91640" y="56052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75.20% alignment with clinical diagnosis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00800" y="4983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629400" y="53629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pt/icon_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533" y="551108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1846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Dashboard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60527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Flask/Chart.js portal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Leukemia diagnosis from raw gene expression data is high-dimensional and noisy. The goal is to build a repeatable data-mining pipeline that cleans, ranks, and clusters expression profiles to distinguish AML, ALL, and Healthy samples — mirrored across Power BI and a live web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(Patients)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8803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8892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Attributes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8803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Classes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1: AML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2: 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3: Healthy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4114800"/>
            <a:ext cx="914400" cy="123444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3822192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5394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4202328"/>
            <a:ext cx="914400" cy="1146912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90972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5394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4712402"/>
            <a:ext cx="914400" cy="636838"/>
          </a:xfrm>
          <a:prstGeom prst="roundRect">
            <a:avLst>
              <a:gd name="adj" fmla="val 5743"/>
            </a:avLst>
          </a:prstGeom>
          <a:solidFill>
            <a:srgbClr val="5FC9BF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419794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53949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pic>
        <p:nvPicPr>
          <p:cNvPr id="25" name="Image 0" descr="/mnt/user-data/uploads/b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143000"/>
            <a:ext cx="4114800" cy="32461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452360" y="457200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0" y="4736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repository: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8096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github.com/PremB2907/BioInsight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68096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DMBI SLA.pbix — Power BI dashboard mirror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expression data to actionable cluster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26060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84607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1440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genes + Diagnosis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554480" y="3086100"/>
            <a:ext cx="1042416" cy="0"/>
          </a:xfrm>
          <a:prstGeom prst="line">
            <a:avLst/>
          </a:prstGeom>
          <a:noFill/>
          <a:ln w="19050">
            <a:solidFill>
              <a:srgbClr val="5FC9B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96896" y="26060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/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26" y="2846070"/>
            <a:ext cx="480060" cy="480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93976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093976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scale to [0,1]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557016" y="3086100"/>
            <a:ext cx="1042416" cy="0"/>
          </a:xfrm>
          <a:prstGeom prst="line">
            <a:avLst/>
          </a:prstGeom>
          <a:noFill/>
          <a:ln w="19050">
            <a:solidFill>
              <a:srgbClr val="5FC9BF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599432" y="26060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ppt/icon_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62" y="2846070"/>
            <a:ext cx="480060" cy="480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96512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Ranking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096512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F-score per gene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559552" y="3086100"/>
            <a:ext cx="1042416" cy="0"/>
          </a:xfrm>
          <a:prstGeom prst="line">
            <a:avLst/>
          </a:prstGeom>
          <a:noFill/>
          <a:ln w="19050">
            <a:solidFill>
              <a:srgbClr val="5FC9BF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6601968" y="26060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ppt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98" y="284607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99048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Genes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099048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reduced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562088" y="3086100"/>
            <a:ext cx="1042416" cy="0"/>
          </a:xfrm>
          <a:prstGeom prst="line">
            <a:avLst/>
          </a:prstGeom>
          <a:noFill/>
          <a:ln w="19050">
            <a:solidFill>
              <a:srgbClr val="5FC9BF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8604504" y="26060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ppt/icon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4534" y="2846070"/>
            <a:ext cx="480060" cy="4800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01584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8101584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9564624" y="3086100"/>
            <a:ext cx="1042416" cy="0"/>
          </a:xfrm>
          <a:prstGeom prst="line">
            <a:avLst/>
          </a:prstGeom>
          <a:noFill/>
          <a:ln w="19050">
            <a:solidFill>
              <a:srgbClr val="5FC9BF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10607040" y="260604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0" name="Image 5" descr="/home/claude/ppt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7070" y="2846070"/>
            <a:ext cx="480060" cy="4800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104120" y="36758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Check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10104120" y="404164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75.20% match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4008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5FC9B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mirrored in two places: a Power BI star-schema dashboard (DMBI SLA.pbix) for BI-style reporting, and a live Flask + Chart.js web portal for interactive drag-and-drop analysis.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Preprocessing &amp; Normalization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pt/icon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155676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3258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cleanup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or non-numeric gene readings are dropped before scaling, matching WEKA's row-wise handling.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/home/claude/ppt/icon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46" y="292836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697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 column is rescaled to [0, 1] so no single high-magnitude probe dominates distance-based clustering.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4114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/home/claude/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" y="4299966"/>
            <a:ext cx="452628" cy="452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40690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WEKA-aligned output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WEKA's Normalize filter (scale=1, translate=0) — keeping Power BI and the web portal consistent.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223760" y="137160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0B3D5C"/>
          </a:solidFill>
          <a:ln/>
        </p:spPr>
      </p:sp>
      <p:sp>
        <p:nvSpPr>
          <p:cNvPr id="13" name="Text 8"/>
          <p:cNvSpPr/>
          <p:nvPr/>
        </p:nvSpPr>
        <p:spPr>
          <a:xfrm>
            <a:off x="745236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Formula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77240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028432" y="2212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73252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9235440" y="2148840"/>
            <a:ext cx="173736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235440" y="18105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− X min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235440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max − X min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45236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every gene independently, column by column, before any distance-based step.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23760" y="3520440"/>
            <a:ext cx="4297680" cy="2377440"/>
          </a:xfrm>
          <a:prstGeom prst="roundRect">
            <a:avLst>
              <a:gd name="adj" fmla="val 4615"/>
            </a:avLst>
          </a:prstGeom>
          <a:solidFill>
            <a:srgbClr val="F4F8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523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452360" y="4069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retained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9784080" y="40690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452360" y="44714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attributes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9784080" y="44714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7452360" y="4873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after scaling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9784080" y="4873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 – 1.0]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452360" y="5276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column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9784080" y="5276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ANOVA F-Score Feature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the curse of dimensionality: 1000 genes → 20 genes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F-Score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94560" y="2377440"/>
            <a:ext cx="310896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9933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BETWEEN diagnosis classes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945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WITHIN diagnosis classes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 ⇒ gene separates AML / ALL / Healthy more cleanly.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169164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727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1000 genes by their ANOVA F-statistic (scikit-learn f_classif), matching WEKA's AttributeEval + Ranker.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350008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23113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top 20 highest-scoring genes as the model's working feature 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00837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88950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long-format table (Sample × Gene × Expression) — leukemia_top20_genes.csv — for BI-style slicing.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416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GENES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attribute 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074920" y="4160520"/>
            <a:ext cx="640080" cy="640080"/>
          </a:xfrm>
          <a:prstGeom prst="triangle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40233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20 GENES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521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 set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0" y="4251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dimensionality reduction, minimal information loss for clustering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selected genes: Gene_149 · Gene_187 · Gene_233 · Gene_318 · Gene_402 · …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Unsupervised K-Means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the normalized 1000-gene space into K = 3 clusters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 samples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5FC9BF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71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6916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 samples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0" y="1691640"/>
            <a:ext cx="1280160" cy="12801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4" name="Image 0" descr="/home/claude/ppt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3556" y="1979676"/>
            <a:ext cx="704088" cy="7040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0" y="3154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SimpleKMeans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(seed=42, n_init=10)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↔ Diagnosis Crosstab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94760"/>
          <a:ext cx="6400800" cy="1737360"/>
        </p:xfrm>
        <a:graphic>
          <a:graphicData uri="http://schemas.openxmlformats.org/drawingml/2006/table">
            <a:tbl>
              <a:tblPr/>
              <a:tblGrid>
                <a:gridCol w="1417320"/>
                <a:gridCol w="1664208"/>
                <a:gridCol w="1664208"/>
                <a:gridCol w="1655064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315200" y="379476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4F8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43800" y="3931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Best-mapping insight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543800" y="42793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cluster0 is dominated by AML, cluster2 by ALL, and cluster1 (though smaller) best aligns with Healthy samples — the basis for the permutation accuracy check next.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3! = 6 possible cluster-to-label permutations, evaluated interactively in the dashboard.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Cluster-to-Diagnosis Accuracy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75.20%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Best-Mapping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752 of 1000 samples correctly aligned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417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783080"/>
            <a:ext cx="502920" cy="0"/>
          </a:xfrm>
          <a:prstGeom prst="line">
            <a:avLst/>
          </a:prstGeom>
          <a:noFill/>
          <a:ln w="25400">
            <a:solidFill>
              <a:srgbClr val="5FC9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6949440" y="1673352"/>
            <a:ext cx="219456" cy="219456"/>
          </a:xfrm>
          <a:prstGeom prst="triangle">
            <a:avLst/>
          </a:prstGeom>
          <a:solidFill>
            <a:srgbClr val="5FC9BF"/>
          </a:solidFill>
          <a:ln/>
        </p:spPr>
      </p:sp>
      <p:sp>
        <p:nvSpPr>
          <p:cNvPr id="11" name="Shape 9"/>
          <p:cNvSpPr/>
          <p:nvPr/>
        </p:nvSpPr>
        <p:spPr>
          <a:xfrm>
            <a:off x="7269480" y="1417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5FC9BF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1417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1417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 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2743200"/>
            <a:ext cx="502920" cy="0"/>
          </a:xfrm>
          <a:prstGeom prst="line">
            <a:avLst/>
          </a:prstGeom>
          <a:noFill/>
          <a:ln w="25400">
            <a:solidFill>
              <a:srgbClr val="5FC9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949440" y="2633472"/>
            <a:ext cx="219456" cy="219456"/>
          </a:xfrm>
          <a:prstGeom prst="triangle">
            <a:avLst/>
          </a:prstGeom>
          <a:solidFill>
            <a:srgbClr val="5FC9B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948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5FC9BF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correct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337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3703320"/>
            <a:ext cx="502920" cy="0"/>
          </a:xfrm>
          <a:prstGeom prst="line">
            <a:avLst/>
          </a:prstGeom>
          <a:noFill/>
          <a:ln w="25400">
            <a:solidFill>
              <a:srgbClr val="5FC9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6949440" y="3593592"/>
            <a:ext cx="219456" cy="219456"/>
          </a:xfrm>
          <a:prstGeom prst="triangle">
            <a:avLst/>
          </a:prstGeom>
          <a:solidFill>
            <a:srgbClr val="5FC9BF"/>
          </a:solidFill>
          <a:ln/>
        </p:spPr>
      </p:sp>
      <p:sp>
        <p:nvSpPr>
          <p:cNvPr id="25" name="Shape 23"/>
          <p:cNvSpPr/>
          <p:nvPr/>
        </p:nvSpPr>
        <p:spPr>
          <a:xfrm>
            <a:off x="7269480" y="3337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5FC9BF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3337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81160" y="3337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correct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FC9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75488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permutation matcher checks all 3! = 6 cluster-to-label mappings in real time; this arrangement gives the highest overall accuracy, confirming K-Means recovers clinically meaningful structure purely from unsupervised gene expression patterns.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Dashboard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57276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979" y="1706499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36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 + DAX measures (DMBI SLA.pbix)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9" name="Shape 6"/>
          <p:cNvSpPr/>
          <p:nvPr/>
        </p:nvSpPr>
        <p:spPr>
          <a:xfrm>
            <a:off x="4544568" y="1572768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0" name="Image 1" descr="/home/claude/ppt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299" y="1706499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36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72000" y="2240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 API — app.py serves stats &amp; gene endpoints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14" name="Shape 10"/>
          <p:cNvSpPr/>
          <p:nvPr/>
        </p:nvSpPr>
        <p:spPr>
          <a:xfrm>
            <a:off x="8247888" y="157276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ppt/icon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619" y="1706499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1536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scikit-learn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75320" y="2240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Min-Max scaling, ANOVA F-score, K-Means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0632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19" name="Shape 14"/>
          <p:cNvSpPr/>
          <p:nvPr/>
        </p:nvSpPr>
        <p:spPr>
          <a:xfrm>
            <a:off x="841248" y="3264408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0" name="Image 3" descr="/home/claude/ppt/icon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79" y="3398139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32278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HTML5 Canvas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6868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boxplots, gene profiles, live charts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30632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24" name="Shape 18"/>
          <p:cNvSpPr/>
          <p:nvPr/>
        </p:nvSpPr>
        <p:spPr>
          <a:xfrm>
            <a:off x="4544568" y="326440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ppt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299" y="3398139"/>
            <a:ext cx="326898" cy="3268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32278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SimpleKMeans &amp; AttributeEval cross-validation baseline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46720" y="306324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4F8F9"/>
          </a:solidFill>
          <a:ln/>
        </p:spPr>
      </p:sp>
      <p:sp>
        <p:nvSpPr>
          <p:cNvPr id="29" name="Shape 22"/>
          <p:cNvSpPr/>
          <p:nvPr/>
        </p:nvSpPr>
        <p:spPr>
          <a:xfrm>
            <a:off x="8247888" y="3264408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0" name="Image 5" descr="/home/claude/ppt/icon_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619" y="3398139"/>
            <a:ext cx="326898" cy="3268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61120" y="32278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UI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27532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custom CSV/ARFF, run pipeline, export results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Power BI report and the Flask web portal read from the same cleaned CSV / cluster-assignment outputs — keeping BI reporting and the live app in sync.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5FC9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2140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933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 + ANOVA F-score shrank 1000 genes to a clean top-20 feature set without losing separability.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17296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04495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K-Means (K=3) recovered clinically meaningful groupings, reaching 75.20% alignment with real diagnoses.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22452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09651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dual-delivery design — Power BI for reporting, Flask/Chart.js for interactivity — keeps analysis reusable and explorable.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212140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9933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classifiers (Random Forest, SVM) benchmarked against the unsupervised baseline.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17296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04495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pathway enrichment analysis on the selected top-20 genes.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22452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0965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retraining pipeline so the Power BI model refreshes as new samples are uploaded via the portal.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5FC9B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6360" y="3977640"/>
            <a:ext cx="18288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206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Bhanushali (41)   •   Hardik (44)   •   TYIT-2   •   DMBI CIAP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github.com/PremB2907/BioInsight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2026-07-10T10:22:59Z</dcterms:created>
  <dcterms:modified xsi:type="dcterms:W3CDTF">2026-07-10T10:22:59Z</dcterms:modified>
</cp:coreProperties>
</file>